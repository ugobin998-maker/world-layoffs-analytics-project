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M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A8D6-35D8-4793-A67E-52A337ED73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25630C-AEFF-DB0A-E717-2296578A7D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81D3D-DFB2-09BE-395E-8E5689B3D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FA3E3-9C1E-8A94-A1CA-FD6B98A77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3F8BB-4625-2746-F30E-EAF4CA716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2184741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5E645-0A25-932B-1308-2DB16D072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74BBF-6718-1568-2C1A-4933E2D7C1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3CAEB-03C7-AD19-C519-1DCB7961D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DBB40-5AA2-7E68-4FDB-9683B8B2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586A45-87DA-5F4E-B58B-185A5495D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430292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5A3AE-A37F-910F-DB9C-72C521063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CBC165-108C-CFEA-A028-D43D74DB2B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13790-FFDA-CD35-1568-CD000A873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8DC74-7332-BE32-EC7F-4896E47D8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E6EFE-9C1B-0E1F-AD3D-DD2499084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2625641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E7C42-C2E3-8019-6FA7-7CE61D552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C24A3-B300-E441-4AC4-343118EB25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3EB6E-FD3D-8446-1529-9F64E817D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1F8276-BCF2-3F30-2D14-4A25D4257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59CD5-3551-B916-FAAF-F1DFAEA90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0E5FAE-5E2F-0343-2F25-6342A37FC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2345533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DE89-327B-179F-BE0F-529CA1DF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36DF6E-BFBC-5DA2-F968-0A4A7D6C95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1269F5-C12B-7943-B23B-18AD3A4958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A0831-3840-EEDD-A24F-B68D3D2489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DF89F2-E7AD-3B6A-37A5-F97D3A2095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D39C9-BFE7-BA76-38DD-B14594D5D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708285-006B-F401-51BF-078B436FE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542BE6-C9E0-15F4-B361-2904260B8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160423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23CA2-A6ED-2874-6894-C42AE1109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72BD57-DCBF-F84C-DA01-93FAA5751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88FC29-31CD-776D-1BD2-652DA6B0B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AF3695-5F6C-9583-4E25-AF1E9E732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1893451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CD5678-AD34-2A8E-122F-0E8A876D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A20F0E-D217-AFBE-D7CA-84D9FE7AE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44F6F-2CE4-0946-111B-81B3DAA83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1138261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7AFCE-3163-5B63-62D2-EF4FBF605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D8C65-EADE-603F-D1E0-D15C54C43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EF2D2A-3883-8BD9-97C6-9DFE32BA94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8F7398-7DCE-065C-B0B9-8883CE262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62A6C-867D-4A34-5260-64E306CAC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87B44-E0E2-6A39-E555-E557AD61D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1361432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B6454-EBB9-711A-0650-0FF32C1E8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741009-908D-39C8-AFA4-1E6AD4A5C0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A796D0-B673-EB6C-94F5-688F005A3F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0FF14-F7C7-8678-617C-B010F5F0A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4CD21-D29B-B29E-5385-91DCC3160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C1C297-3448-C2C9-B156-D25136244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3771312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0CB2B-B67B-F275-CFB2-DE14E8CF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AF9228-687B-5C9F-C06B-BAF1F449AF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660E4-BF56-DDF9-DD16-6E73A257E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7CBD4-9AAF-4A30-E29E-49DFC3772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93ADC-E20D-C32A-EC15-436998B99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3559092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F66742-A484-AD70-DC30-038245346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1CF76D-8CA1-862D-8E9C-1F3B0FD4D7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B4E57-7272-16F1-9AC8-48808AAA7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6CA15-00A1-1A89-580D-B2B239FD1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93D52-B91E-2F73-CC23-FE5B42A5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3112798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143013-E9E5-D087-41CA-63FE66974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08803D-28E8-FA7E-CC6C-EA2D3A6BB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4E86D-91F0-2274-BB7B-DCB3A3F812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4D55C5-85D7-4812-869A-D45C3FF3CF35}" type="datetimeFigureOut">
              <a:rPr lang="en-MU" smtClean="0"/>
              <a:t>23/01/2026</a:t>
            </a:fld>
            <a:endParaRPr lang="en-M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44B3D-A101-5337-4026-980F7883DC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6F526-BE6E-FFFA-19C5-82711CCAE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315A0-69BD-43BA-83E5-E193762BA2EB}" type="slidenum">
              <a:rPr lang="en-MU" smtClean="0"/>
              <a:t>‹#›</a:t>
            </a:fld>
            <a:endParaRPr lang="en-MU"/>
          </a:p>
        </p:txBody>
      </p:sp>
    </p:spTree>
    <p:extLst>
      <p:ext uri="{BB962C8B-B14F-4D97-AF65-F5344CB8AC3E}">
        <p14:creationId xmlns:p14="http://schemas.microsoft.com/office/powerpoint/2010/main" val="1708114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M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A12D440-8664-B39F-5B4E-1F5AAD5C3850}"/>
              </a:ext>
            </a:extLst>
          </p:cNvPr>
          <p:cNvGrpSpPr/>
          <p:nvPr/>
        </p:nvGrpSpPr>
        <p:grpSpPr>
          <a:xfrm>
            <a:off x="0" y="0"/>
            <a:ext cx="12192000" cy="776748"/>
            <a:chOff x="-68825" y="194309"/>
            <a:chExt cx="12192000" cy="776748"/>
          </a:xfrm>
          <a:solidFill>
            <a:schemeClr val="accent1">
              <a:lumMod val="50000"/>
            </a:schemeClr>
          </a:solidFill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EC6016-B2D9-71E2-24B0-8D79EBD25017}"/>
                </a:ext>
              </a:extLst>
            </p:cNvPr>
            <p:cNvSpPr/>
            <p:nvPr/>
          </p:nvSpPr>
          <p:spPr>
            <a:xfrm>
              <a:off x="-68825" y="194309"/>
              <a:ext cx="12192000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DF1D1FA-2927-7093-C376-3AF78E8D56DD}"/>
                </a:ext>
              </a:extLst>
            </p:cNvPr>
            <p:cNvSpPr txBox="1"/>
            <p:nvPr/>
          </p:nvSpPr>
          <p:spPr>
            <a:xfrm>
              <a:off x="823504" y="290296"/>
              <a:ext cx="9504784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3200" b="1" dirty="0">
                  <a:solidFill>
                    <a:schemeClr val="bg1"/>
                  </a:solidFill>
                </a:rPr>
                <a:t>DASHBOARD TITLE</a:t>
              </a:r>
              <a:endParaRPr lang="en-MU" sz="3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51CB6-AB3F-F3AF-FDF1-2716D4F60FFE}"/>
              </a:ext>
            </a:extLst>
          </p:cNvPr>
          <p:cNvGrpSpPr/>
          <p:nvPr/>
        </p:nvGrpSpPr>
        <p:grpSpPr>
          <a:xfrm>
            <a:off x="20144" y="965637"/>
            <a:ext cx="2116726" cy="1172796"/>
            <a:chOff x="-84927" y="194309"/>
            <a:chExt cx="12208102" cy="776748"/>
          </a:xfrm>
          <a:solidFill>
            <a:schemeClr val="accent1">
              <a:lumMod val="50000"/>
            </a:schemeClr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837271C-2F31-F504-5F3B-EA7B46BEECEA}"/>
                </a:ext>
              </a:extLst>
            </p:cNvPr>
            <p:cNvSpPr/>
            <p:nvPr/>
          </p:nvSpPr>
          <p:spPr>
            <a:xfrm>
              <a:off x="-68825" y="194309"/>
              <a:ext cx="12192000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AB40F0E-F93E-7708-9429-73597E864DA9}"/>
                </a:ext>
              </a:extLst>
            </p:cNvPr>
            <p:cNvSpPr txBox="1"/>
            <p:nvPr/>
          </p:nvSpPr>
          <p:spPr>
            <a:xfrm>
              <a:off x="-84927" y="300928"/>
              <a:ext cx="12137514" cy="55037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CARD 1</a:t>
              </a: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(Sum of all layoffs)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885892E-32AF-32CB-3B9E-901CA878DAC2}"/>
              </a:ext>
            </a:extLst>
          </p:cNvPr>
          <p:cNvGrpSpPr/>
          <p:nvPr/>
        </p:nvGrpSpPr>
        <p:grpSpPr>
          <a:xfrm>
            <a:off x="2339086" y="965638"/>
            <a:ext cx="2615051" cy="776748"/>
            <a:chOff x="-68825" y="194309"/>
            <a:chExt cx="12192000" cy="776748"/>
          </a:xfrm>
          <a:solidFill>
            <a:schemeClr val="accent1">
              <a:lumMod val="50000"/>
            </a:schemeClr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1818021-8DA7-C0E7-BDB0-67DDB64879B2}"/>
                </a:ext>
              </a:extLst>
            </p:cNvPr>
            <p:cNvSpPr/>
            <p:nvPr/>
          </p:nvSpPr>
          <p:spPr>
            <a:xfrm>
              <a:off x="-68825" y="194309"/>
              <a:ext cx="12192000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5B7B7A4-B21D-2D8B-7B0F-CD4F269B2A19}"/>
                </a:ext>
              </a:extLst>
            </p:cNvPr>
            <p:cNvSpPr txBox="1"/>
            <p:nvPr/>
          </p:nvSpPr>
          <p:spPr>
            <a:xfrm>
              <a:off x="652130" y="300927"/>
              <a:ext cx="10008141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SLICER 1</a:t>
              </a: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(Years)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8082DC6-7AE3-E894-05A1-842339CB147B}"/>
              </a:ext>
            </a:extLst>
          </p:cNvPr>
          <p:cNvGrpSpPr/>
          <p:nvPr/>
        </p:nvGrpSpPr>
        <p:grpSpPr>
          <a:xfrm>
            <a:off x="2323947" y="1799982"/>
            <a:ext cx="2615051" cy="776748"/>
            <a:chOff x="-68825" y="194309"/>
            <a:chExt cx="12192000" cy="776748"/>
          </a:xfrm>
          <a:solidFill>
            <a:schemeClr val="accent1">
              <a:lumMod val="50000"/>
            </a:schemeClr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F75D46B-7EDE-7FFF-ABAD-DC9D65F7F46A}"/>
                </a:ext>
              </a:extLst>
            </p:cNvPr>
            <p:cNvSpPr/>
            <p:nvPr/>
          </p:nvSpPr>
          <p:spPr>
            <a:xfrm>
              <a:off x="-68825" y="194309"/>
              <a:ext cx="12192000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51AE9D2-EFC5-497B-7D4A-04713C6FA2D7}"/>
                </a:ext>
              </a:extLst>
            </p:cNvPr>
            <p:cNvSpPr txBox="1"/>
            <p:nvPr/>
          </p:nvSpPr>
          <p:spPr>
            <a:xfrm>
              <a:off x="1756" y="351943"/>
              <a:ext cx="11630070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SLICER 2</a:t>
              </a: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(Countries involved)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97F72AE-3BEA-D621-5C7E-D92700AE2F96}"/>
              </a:ext>
            </a:extLst>
          </p:cNvPr>
          <p:cNvGrpSpPr/>
          <p:nvPr/>
        </p:nvGrpSpPr>
        <p:grpSpPr>
          <a:xfrm>
            <a:off x="2339086" y="2630038"/>
            <a:ext cx="2615051" cy="898287"/>
            <a:chOff x="-68825" y="194309"/>
            <a:chExt cx="12192000" cy="776748"/>
          </a:xfrm>
          <a:solidFill>
            <a:schemeClr val="accent1">
              <a:lumMod val="5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D98360C-2A0C-0DB0-1DC1-A8231BA3C099}"/>
                </a:ext>
              </a:extLst>
            </p:cNvPr>
            <p:cNvSpPr/>
            <p:nvPr/>
          </p:nvSpPr>
          <p:spPr>
            <a:xfrm>
              <a:off x="-68825" y="194309"/>
              <a:ext cx="12192000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B3ADBE3-F351-88F4-ECD9-52138D8D96AE}"/>
                </a:ext>
              </a:extLst>
            </p:cNvPr>
            <p:cNvSpPr txBox="1"/>
            <p:nvPr/>
          </p:nvSpPr>
          <p:spPr>
            <a:xfrm>
              <a:off x="1500173" y="197204"/>
              <a:ext cx="8312045" cy="71856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SLICER 3</a:t>
              </a: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(Industries involved)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A20E2F2-2723-D897-1A50-83F01AF86785}"/>
              </a:ext>
            </a:extLst>
          </p:cNvPr>
          <p:cNvGrpSpPr/>
          <p:nvPr/>
        </p:nvGrpSpPr>
        <p:grpSpPr>
          <a:xfrm>
            <a:off x="5236880" y="958645"/>
            <a:ext cx="2665173" cy="2569679"/>
            <a:chOff x="-68825" y="194309"/>
            <a:chExt cx="12192000" cy="776748"/>
          </a:xfrm>
          <a:solidFill>
            <a:schemeClr val="accent1">
              <a:lumMod val="50000"/>
            </a:schemeClr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D28DFEC-AC55-DE9C-1079-90E674E36D2C}"/>
                </a:ext>
              </a:extLst>
            </p:cNvPr>
            <p:cNvSpPr/>
            <p:nvPr/>
          </p:nvSpPr>
          <p:spPr>
            <a:xfrm>
              <a:off x="-68825" y="194309"/>
              <a:ext cx="12192000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A2D5763-022E-733C-2361-64491E90FC44}"/>
                </a:ext>
              </a:extLst>
            </p:cNvPr>
            <p:cNvSpPr txBox="1"/>
            <p:nvPr/>
          </p:nvSpPr>
          <p:spPr>
            <a:xfrm>
              <a:off x="1563621" y="317032"/>
              <a:ext cx="8710561" cy="5488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DONUT CHART</a:t>
              </a:r>
            </a:p>
            <a:p>
              <a:pPr lvl="1" algn="ctr"/>
              <a:endParaRPr lang="en-US" sz="1600" b="1" dirty="0">
                <a:solidFill>
                  <a:schemeClr val="bg1"/>
                </a:solidFill>
              </a:endParaRP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(Top 5 industries with the most layoffs)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B8313CC-234D-8026-B126-D9A7E364BCFE}"/>
              </a:ext>
            </a:extLst>
          </p:cNvPr>
          <p:cNvGrpSpPr/>
          <p:nvPr/>
        </p:nvGrpSpPr>
        <p:grpSpPr>
          <a:xfrm>
            <a:off x="20145" y="3624312"/>
            <a:ext cx="6616630" cy="3265451"/>
            <a:chOff x="-68825" y="194309"/>
            <a:chExt cx="12192000" cy="776748"/>
          </a:xfrm>
          <a:solidFill>
            <a:schemeClr val="accent1">
              <a:lumMod val="50000"/>
            </a:schemeClr>
          </a:solidFill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E33D918-6235-AADE-4DC2-BA5B5464F217}"/>
                </a:ext>
              </a:extLst>
            </p:cNvPr>
            <p:cNvSpPr/>
            <p:nvPr/>
          </p:nvSpPr>
          <p:spPr>
            <a:xfrm>
              <a:off x="-68825" y="194309"/>
              <a:ext cx="12192000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2C6B8B2-455F-4F46-D539-AA7EF584199D}"/>
                </a:ext>
              </a:extLst>
            </p:cNvPr>
            <p:cNvSpPr txBox="1"/>
            <p:nvPr/>
          </p:nvSpPr>
          <p:spPr>
            <a:xfrm>
              <a:off x="473805" y="335463"/>
              <a:ext cx="10343876" cy="2036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LINE CHART</a:t>
              </a:r>
            </a:p>
            <a:p>
              <a:pPr lvl="1" algn="ctr"/>
              <a:endParaRPr lang="en-US" sz="1600" b="1" dirty="0">
                <a:solidFill>
                  <a:schemeClr val="bg1"/>
                </a:solidFill>
              </a:endParaRP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(Number of layoffs across years)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CB4FAA2-3609-9D19-0B0D-64A4BCE161F0}"/>
              </a:ext>
            </a:extLst>
          </p:cNvPr>
          <p:cNvGrpSpPr/>
          <p:nvPr/>
        </p:nvGrpSpPr>
        <p:grpSpPr>
          <a:xfrm>
            <a:off x="8083810" y="965638"/>
            <a:ext cx="4123329" cy="2562686"/>
            <a:chOff x="-64845" y="181244"/>
            <a:chExt cx="12191999" cy="776748"/>
          </a:xfrm>
          <a:solidFill>
            <a:schemeClr val="accent1">
              <a:lumMod val="50000"/>
            </a:schemeClr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F16523E-39AC-9B28-D97C-D89A73E9A9A5}"/>
                </a:ext>
              </a:extLst>
            </p:cNvPr>
            <p:cNvSpPr/>
            <p:nvPr/>
          </p:nvSpPr>
          <p:spPr>
            <a:xfrm>
              <a:off x="-64845" y="181244"/>
              <a:ext cx="12191999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593ABE3-D6B1-B8FE-FB76-CE04B9D2B33B}"/>
                </a:ext>
              </a:extLst>
            </p:cNvPr>
            <p:cNvSpPr txBox="1"/>
            <p:nvPr/>
          </p:nvSpPr>
          <p:spPr>
            <a:xfrm>
              <a:off x="947676" y="335463"/>
              <a:ext cx="9870003" cy="32650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CLUSTERED COLUMN CHART</a:t>
              </a:r>
            </a:p>
            <a:p>
              <a:pPr lvl="1" algn="ctr"/>
              <a:endParaRPr lang="en-US" sz="1600" b="1" dirty="0">
                <a:solidFill>
                  <a:schemeClr val="bg1"/>
                </a:solidFill>
              </a:endParaRP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(Top companies with the highest number of layoffs)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E228C7A-0E34-BC5E-950B-759DBA00D268}"/>
              </a:ext>
            </a:extLst>
          </p:cNvPr>
          <p:cNvGrpSpPr/>
          <p:nvPr/>
        </p:nvGrpSpPr>
        <p:grpSpPr>
          <a:xfrm>
            <a:off x="6865551" y="3624312"/>
            <a:ext cx="5349093" cy="3233688"/>
            <a:chOff x="-64845" y="181244"/>
            <a:chExt cx="12191999" cy="776748"/>
          </a:xfrm>
          <a:solidFill>
            <a:schemeClr val="accent1">
              <a:lumMod val="50000"/>
            </a:schemeClr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2BE219A-CD86-475E-7CB6-A1C14424BDA2}"/>
                </a:ext>
              </a:extLst>
            </p:cNvPr>
            <p:cNvSpPr/>
            <p:nvPr/>
          </p:nvSpPr>
          <p:spPr>
            <a:xfrm>
              <a:off x="-64845" y="181244"/>
              <a:ext cx="12191999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75AFC3-1F4F-F260-2F09-0BEB5CB13324}"/>
                </a:ext>
              </a:extLst>
            </p:cNvPr>
            <p:cNvSpPr txBox="1"/>
            <p:nvPr/>
          </p:nvSpPr>
          <p:spPr>
            <a:xfrm>
              <a:off x="1072076" y="335463"/>
              <a:ext cx="9745606" cy="199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MAP CHART</a:t>
              </a:r>
            </a:p>
            <a:p>
              <a:pPr lvl="1" algn="ctr"/>
              <a:endParaRPr lang="en-US" sz="1600" b="1" dirty="0">
                <a:solidFill>
                  <a:schemeClr val="bg1"/>
                </a:solidFill>
              </a:endParaRP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(Total layoffs by country)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685B178-28D0-D8C4-4662-9AFC80FF7657}"/>
              </a:ext>
            </a:extLst>
          </p:cNvPr>
          <p:cNvGrpSpPr/>
          <p:nvPr/>
        </p:nvGrpSpPr>
        <p:grpSpPr>
          <a:xfrm>
            <a:off x="20143" y="2318764"/>
            <a:ext cx="2116727" cy="1206228"/>
            <a:chOff x="-84932" y="184769"/>
            <a:chExt cx="12208107" cy="786288"/>
          </a:xfrm>
          <a:solidFill>
            <a:schemeClr val="accent1">
              <a:lumMod val="50000"/>
            </a:schemeClr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70B264B-75CF-CDCA-57A8-F2702FAB8B4C}"/>
                </a:ext>
              </a:extLst>
            </p:cNvPr>
            <p:cNvSpPr/>
            <p:nvPr/>
          </p:nvSpPr>
          <p:spPr>
            <a:xfrm>
              <a:off x="-68825" y="194309"/>
              <a:ext cx="12192000" cy="77674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U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7C38FF3-E39C-DD93-6D1B-FC5FD1BBE6B8}"/>
                </a:ext>
              </a:extLst>
            </p:cNvPr>
            <p:cNvSpPr txBox="1"/>
            <p:nvPr/>
          </p:nvSpPr>
          <p:spPr>
            <a:xfrm>
              <a:off x="-84932" y="184769"/>
              <a:ext cx="12005243" cy="70219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CARD 2</a:t>
              </a:r>
            </a:p>
            <a:p>
              <a:pPr lvl="1" algn="ctr"/>
              <a:r>
                <a:rPr lang="en-US" sz="1600" b="1" dirty="0">
                  <a:solidFill>
                    <a:schemeClr val="bg1"/>
                  </a:solidFill>
                </a:rPr>
                <a:t>(Average monthly layoffs)</a:t>
              </a:r>
              <a:endParaRPr lang="en-MU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64439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75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Gobin</dc:creator>
  <cp:lastModifiedBy>Utkarsh Gobin</cp:lastModifiedBy>
  <cp:revision>8</cp:revision>
  <dcterms:created xsi:type="dcterms:W3CDTF">2026-01-16T09:30:30Z</dcterms:created>
  <dcterms:modified xsi:type="dcterms:W3CDTF">2026-01-22T20:18:39Z</dcterms:modified>
</cp:coreProperties>
</file>